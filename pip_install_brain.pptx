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82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09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0D7D1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8580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o-RO" sz="4200" b="1" dirty="0" err="1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</a:t>
            </a:r>
            <a:r>
              <a:rPr lang="ro-RO" sz="4200" b="1" dirty="0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o-RO" sz="4200" b="1" dirty="0" err="1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2212848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ro-RO" sz="1800" dirty="0">
                <a:solidFill>
                  <a:srgbClr val="5C665F"/>
                </a:solidFill>
              </a:rPr>
              <a:t>O soluție practică </a:t>
            </a:r>
            <a:r>
              <a:rPr lang="en-US" sz="1800" dirty="0" err="1">
                <a:solidFill>
                  <a:srgbClr val="5C665F"/>
                </a:solidFill>
              </a:rPr>
              <a:t>pentru</a:t>
            </a:r>
            <a:r>
              <a:rPr lang="en-US" sz="1800" dirty="0">
                <a:solidFill>
                  <a:srgbClr val="5C665F"/>
                </a:solidFill>
              </a:rPr>
              <a:t> </a:t>
            </a:r>
            <a:r>
              <a:rPr lang="en-US" sz="1800" dirty="0" err="1">
                <a:solidFill>
                  <a:srgbClr val="5C665F"/>
                </a:solidFill>
              </a:rPr>
              <a:t>angajați</a:t>
            </a:r>
            <a:r>
              <a:rPr lang="en-US" sz="1800" dirty="0">
                <a:solidFill>
                  <a:srgbClr val="5C665F"/>
                </a:solidFill>
              </a:rPr>
              <a:t> </a:t>
            </a:r>
            <a:r>
              <a:rPr lang="en-US" sz="1800" dirty="0" err="1">
                <a:solidFill>
                  <a:srgbClr val="5C665F"/>
                </a:solidFill>
              </a:rPr>
              <a:t>și</a:t>
            </a:r>
            <a:r>
              <a:rPr lang="en-US" sz="1800" dirty="0">
                <a:solidFill>
                  <a:srgbClr val="5C665F"/>
                </a:solidFill>
              </a:rPr>
              <a:t> </a:t>
            </a:r>
            <a:r>
              <a:rPr lang="en-US" sz="1800" dirty="0" err="1">
                <a:solidFill>
                  <a:srgbClr val="5C665F"/>
                </a:solidFill>
              </a:rPr>
              <a:t>organizații</a:t>
            </a:r>
            <a:r>
              <a:rPr lang="ro-RO" dirty="0">
                <a:solidFill>
                  <a:srgbClr val="5C665F"/>
                </a:solidFill>
              </a:rPr>
              <a:t> împotriva r</a:t>
            </a:r>
            <a:r>
              <a:rPr lang="en-US" sz="1800" dirty="0" err="1">
                <a:solidFill>
                  <a:srgbClr val="5C665F"/>
                </a:solidFill>
              </a:rPr>
              <a:t>iscuril</a:t>
            </a:r>
            <a:r>
              <a:rPr lang="ro-RO" sz="1800" dirty="0">
                <a:solidFill>
                  <a:srgbClr val="5C665F"/>
                </a:solidFill>
              </a:rPr>
              <a:t>or cauzate de</a:t>
            </a:r>
            <a:r>
              <a:rPr lang="en-US" sz="1800" dirty="0">
                <a:solidFill>
                  <a:srgbClr val="5C665F"/>
                </a:solidFill>
              </a:rPr>
              <a:t> </a:t>
            </a:r>
            <a:r>
              <a:rPr lang="en-US" sz="1800" dirty="0" err="1">
                <a:solidFill>
                  <a:srgbClr val="5C665F"/>
                </a:solidFill>
              </a:rPr>
              <a:t>sedentarismul</a:t>
            </a:r>
            <a:r>
              <a:rPr lang="en-US" sz="1800" dirty="0">
                <a:solidFill>
                  <a:srgbClr val="5C665F"/>
                </a:solidFill>
              </a:rPr>
              <a:t> de biro</a:t>
            </a:r>
            <a:r>
              <a:rPr lang="ro-RO" dirty="0">
                <a:solidFill>
                  <a:srgbClr val="5C665F"/>
                </a:solidFill>
              </a:rPr>
              <a:t>u</a:t>
            </a:r>
            <a:endParaRPr lang="en-US" sz="1800" dirty="0"/>
          </a:p>
        </p:txBody>
      </p:sp>
      <p:pic>
        <p:nvPicPr>
          <p:cNvPr id="6" name="Image 0" descr="/mnt/data/standing_desk.webp"/>
          <p:cNvPicPr>
            <a:picLocks noChangeAspect="1"/>
          </p:cNvPicPr>
          <p:nvPr/>
        </p:nvPicPr>
        <p:blipFill>
          <a:blip r:embed="rId3"/>
          <a:srcRect l="18927" r="18927"/>
          <a:stretch/>
        </p:blipFill>
        <p:spPr>
          <a:xfrm>
            <a:off x="6446520" y="411480"/>
            <a:ext cx="5074920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56832" y="4983480"/>
            <a:ext cx="4480560" cy="749808"/>
          </a:xfrm>
          <a:prstGeom prst="roundRect">
            <a:avLst>
              <a:gd name="adj" fmla="val 18293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5111496"/>
            <a:ext cx="4069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B24"/>
                </a:solidFill>
              </a:rPr>
              <a:t>Problema centrală: ore lungi de stat jos pot afecta inima, metabolismul, coloana și energia zilnică.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B6DFB-A9A3-0B05-4487-77AF7D098F13}"/>
              </a:ext>
            </a:extLst>
          </p:cNvPr>
          <p:cNvSpPr txBox="1"/>
          <p:nvPr/>
        </p:nvSpPr>
        <p:spPr>
          <a:xfrm>
            <a:off x="670560" y="168985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 err="1"/>
              <a:t>By</a:t>
            </a:r>
            <a:r>
              <a:rPr lang="ro-RO" dirty="0"/>
              <a:t> </a:t>
            </a:r>
            <a:r>
              <a:rPr lang="ro-RO" dirty="0" err="1"/>
              <a:t>pip</a:t>
            </a:r>
            <a:r>
              <a:rPr lang="ro-RO" dirty="0"/>
              <a:t> </a:t>
            </a:r>
            <a:r>
              <a:rPr lang="ro-RO" dirty="0" err="1"/>
              <a:t>install</a:t>
            </a:r>
            <a:r>
              <a:rPr lang="ro-RO" dirty="0"/>
              <a:t> </a:t>
            </a:r>
            <a:r>
              <a:rPr lang="ro-RO" dirty="0" err="1"/>
              <a:t>brain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</a:t>
            </a:r>
            <a:r>
              <a:rPr lang="ro-RO" sz="2900" b="1" dirty="0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Efecte ale s</a:t>
            </a:r>
            <a:r>
              <a:rPr lang="en-US" sz="2900" b="1" dirty="0" err="1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edentarismul</a:t>
            </a:r>
            <a:r>
              <a:rPr lang="ro-RO" sz="2900" b="1" dirty="0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5F"/>
                </a:solidFill>
              </a:rPr>
              <a:t>Statul jos prelungit nu este neutralizat complet de sportul făcut seara.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900" b="1" dirty="0">
                <a:solidFill>
                  <a:srgbClr val="1F2B24"/>
                </a:solidFill>
              </a:rPr>
              <a:t>Risc crescut 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49808" y="1984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B24"/>
                </a:solidFill>
              </a:rPr>
              <a:t>Infarct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057400" y="1965960"/>
            <a:ext cx="3611880" cy="210312"/>
          </a:xfrm>
          <a:prstGeom prst="roundRect">
            <a:avLst>
              <a:gd name="adj" fmla="val 21739"/>
            </a:avLst>
          </a:prstGeom>
          <a:solidFill>
            <a:srgbClr val="E6E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965960"/>
            <a:ext cx="3539642" cy="210312"/>
          </a:xfrm>
          <a:prstGeom prst="roundRect">
            <a:avLst>
              <a:gd name="adj" fmla="val 21739"/>
            </a:avLst>
          </a:prstGeom>
          <a:solidFill>
            <a:srgbClr val="B455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947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54A"/>
                </a:solidFill>
              </a:rPr>
              <a:t>+147%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B24"/>
                </a:solidFill>
              </a:rPr>
              <a:t>Diabet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057400" y="2587752"/>
            <a:ext cx="3611880" cy="210312"/>
          </a:xfrm>
          <a:prstGeom prst="roundRect">
            <a:avLst>
              <a:gd name="adj" fmla="val 21739"/>
            </a:avLst>
          </a:prstGeom>
          <a:solidFill>
            <a:srgbClr val="E6E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587752"/>
            <a:ext cx="2696870" cy="210312"/>
          </a:xfrm>
          <a:prstGeom prst="roundRect">
            <a:avLst>
              <a:gd name="adj" fmla="val 21739"/>
            </a:avLst>
          </a:prstGeom>
          <a:solidFill>
            <a:srgbClr val="D88B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5694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8B3A"/>
                </a:solidFill>
              </a:rPr>
              <a:t>+112%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32278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B24"/>
                </a:solidFill>
              </a:rPr>
              <a:t>Deces CV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057400" y="3209544"/>
            <a:ext cx="3611880" cy="210312"/>
          </a:xfrm>
          <a:prstGeom prst="roundRect">
            <a:avLst>
              <a:gd name="adj" fmla="val 21739"/>
            </a:avLst>
          </a:prstGeom>
          <a:solidFill>
            <a:srgbClr val="E6E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209544"/>
            <a:ext cx="818693" cy="210312"/>
          </a:xfrm>
          <a:prstGeom prst="roundRect">
            <a:avLst>
              <a:gd name="adj" fmla="val 21739"/>
            </a:avLst>
          </a:prstGeom>
          <a:solidFill>
            <a:srgbClr val="456D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191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6D8A"/>
                </a:solidFill>
              </a:rPr>
              <a:t>+34%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8496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B24"/>
                </a:solidFill>
              </a:rPr>
              <a:t>Mortalitate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057400" y="3831336"/>
            <a:ext cx="3611880" cy="210312"/>
          </a:xfrm>
          <a:prstGeom prst="roundRect">
            <a:avLst>
              <a:gd name="adj" fmla="val 21739"/>
            </a:avLst>
          </a:prstGeom>
          <a:solidFill>
            <a:srgbClr val="E6E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3831336"/>
            <a:ext cx="385267" cy="210312"/>
          </a:xfrm>
          <a:prstGeom prst="roundRect">
            <a:avLst>
              <a:gd name="adj" fmla="val 21739"/>
            </a:avLst>
          </a:prstGeom>
          <a:solidFill>
            <a:srgbClr val="2F6B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813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B4F"/>
                </a:solidFill>
              </a:rPr>
              <a:t>+16%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95160" y="1325880"/>
            <a:ext cx="4434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24"/>
                </a:solidFill>
              </a:rPr>
              <a:t>De c</a:t>
            </a:r>
            <a:r>
              <a:rPr lang="ro-RO" sz="2000" b="1" dirty="0">
                <a:solidFill>
                  <a:srgbClr val="1F2B24"/>
                </a:solidFill>
              </a:rPr>
              <a:t>e</a:t>
            </a:r>
            <a:r>
              <a:rPr lang="en-US" sz="2000" b="1" dirty="0">
                <a:solidFill>
                  <a:srgbClr val="1F2B24"/>
                </a:solidFill>
              </a:rPr>
              <a:t>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69480" y="2313432"/>
            <a:ext cx="146304" cy="146304"/>
          </a:xfrm>
          <a:prstGeom prst="arc">
            <a:avLst/>
          </a:prstGeom>
          <a:solidFill>
            <a:srgbClr val="D88B3A"/>
          </a:solidFill>
          <a:ln w="12700">
            <a:solidFill>
              <a:srgbClr val="D88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2240280"/>
            <a:ext cx="35661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B24"/>
                </a:solidFill>
              </a:rPr>
              <a:t>Mușchii relaxați consumă mai puțină glucoză din sânge.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269480" y="2862072"/>
            <a:ext cx="146304" cy="146304"/>
          </a:xfrm>
          <a:prstGeom prst="arc">
            <a:avLst/>
          </a:prstGeom>
          <a:solidFill>
            <a:srgbClr val="456D8A"/>
          </a:solidFill>
          <a:ln w="12700">
            <a:solidFill>
              <a:srgbClr val="456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2788920"/>
            <a:ext cx="35661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B24"/>
                </a:solidFill>
              </a:rPr>
              <a:t>Circulația încetinește; crește riscul de disconfort și tromboză.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269480" y="3410712"/>
            <a:ext cx="146304" cy="146304"/>
          </a:xfrm>
          <a:prstGeom prst="arc">
            <a:avLst/>
          </a:prstGeom>
          <a:solidFill>
            <a:srgbClr val="B4554A"/>
          </a:solidFill>
          <a:ln w="12700">
            <a:solidFill>
              <a:srgbClr val="B455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7224" y="3337560"/>
            <a:ext cx="35661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B24"/>
                </a:solidFill>
              </a:rPr>
              <a:t>Postura fixă încarcă zona lombară, gâtul și umerii.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269480" y="3959352"/>
            <a:ext cx="146304" cy="146304"/>
          </a:xfrm>
          <a:prstGeom prst="arc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3886200"/>
            <a:ext cx="35661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B24"/>
                </a:solidFill>
              </a:rPr>
              <a:t>Pauzele rare reduc energia și concentrarea.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315200" y="4709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</a:rPr>
              <a:t>Concluzie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4956048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665F"/>
                </a:solidFill>
              </a:rPr>
              <a:t>Riscul vine din durata continuă de inactivitate, nu doar din lipsa antrenamentelor.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Corpul reacționează în lanț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5F"/>
                </a:solidFill>
              </a:rPr>
              <a:t>Efectele apar simultan: metabolic, cardiovascular, musculo-scheletal și mental.</a:t>
            </a:r>
            <a:endParaRPr lang="en-US" sz="1350" dirty="0"/>
          </a:p>
        </p:txBody>
      </p:sp>
      <p:pic>
        <p:nvPicPr>
          <p:cNvPr id="4" name="Image 0" descr="/mnt/data/posture.webp"/>
          <p:cNvPicPr>
            <a:picLocks noChangeAspect="1"/>
          </p:cNvPicPr>
          <p:nvPr/>
        </p:nvPicPr>
        <p:blipFill>
          <a:blip r:embed="rId3"/>
          <a:srcRect l="22763" r="22763"/>
          <a:stretch/>
        </p:blipFill>
        <p:spPr>
          <a:xfrm>
            <a:off x="731520" y="1325880"/>
            <a:ext cx="42062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41732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EEF4EF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87568" y="1600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🩸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199632" y="16550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24"/>
                </a:solidFill>
              </a:rPr>
              <a:t>Metabolic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199632" y="20299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665F"/>
                </a:solidFill>
              </a:rPr>
              <a:t>glicemie, trigliceride, talie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8366760" y="141732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7EE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7928" y="1600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❤️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079991" y="1709928"/>
            <a:ext cx="159125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24"/>
                </a:solidFill>
              </a:rPr>
              <a:t>Cardiovascular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079992" y="20299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665F"/>
                </a:solidFill>
              </a:rPr>
              <a:t>insuficiență cardiacă, deces CV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5486400" y="365760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EEF4EF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87568" y="3840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🦴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199632" y="38953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24"/>
                </a:solidFill>
              </a:rPr>
              <a:t>Musculo-scheletal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199632" y="43525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665F"/>
                </a:solidFill>
              </a:rPr>
              <a:t>gât, spate inferior, umeri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8366760" y="365760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7EE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67928" y="3840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🧠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9079992" y="38953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B24"/>
                </a:solidFill>
              </a:rPr>
              <a:t>Cognitiv &amp; mental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079992" y="43525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665F"/>
                </a:solidFill>
              </a:rPr>
              <a:t>oboseală, concentrare, dispoziție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5486400" y="5486400"/>
            <a:ext cx="5303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B24"/>
                </a:solidFill>
              </a:rPr>
              <a:t>Cele mai frecvente simptome raportate la lucrătorii de birou: </a:t>
            </a:r>
            <a:r>
              <a:rPr lang="ro-RO" sz="1500" b="1" dirty="0">
                <a:solidFill>
                  <a:srgbClr val="1F2B24"/>
                </a:solidFill>
              </a:rPr>
              <a:t>dureri de </a:t>
            </a:r>
            <a:r>
              <a:rPr lang="en-US" sz="1500" b="1" dirty="0" err="1">
                <a:solidFill>
                  <a:srgbClr val="1F2B24"/>
                </a:solidFill>
              </a:rPr>
              <a:t>gât</a:t>
            </a:r>
            <a:r>
              <a:rPr lang="en-US" sz="1500" b="1" dirty="0">
                <a:solidFill>
                  <a:srgbClr val="1F2B24"/>
                </a:solidFill>
              </a:rPr>
              <a:t> 53,5%, spate inferior 53,2%, umeri 51,6%.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Soluții simple, aplicate în timpul zilei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5F"/>
                </a:solidFill>
              </a:rPr>
              <a:t>Abordarea eficientă combină mișcarea frecventă cu ergonomia de bază.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EFF7F1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F"/>
                </a:solidFill>
              </a:rPr>
              <a:t>30–60 min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9848" y="2578608"/>
            <a:ext cx="17830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B24"/>
                </a:solidFill>
              </a:rPr>
              <a:t>Alternare șezut / stat în picioare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673352" y="3657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↕️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66160" y="150876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828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8B3A"/>
                </a:solidFill>
              </a:rPr>
              <a:t>2 min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58768" y="2578608"/>
            <a:ext cx="17830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B24"/>
                </a:solidFill>
              </a:rPr>
              <a:t>Plimbări scurte sau mobilizare la birou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62272" y="3657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EFF7F1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56D8A"/>
                </a:solidFill>
              </a:rPr>
              <a:t>50/10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47688" y="2578608"/>
            <a:ext cx="17830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B24"/>
                </a:solidFill>
              </a:rPr>
              <a:t>50 min lucru concentrat + 10 min mișcare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51192" y="3657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44000" y="1508760"/>
            <a:ext cx="2331720" cy="29718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5D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828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4554A"/>
                </a:solidFill>
              </a:rPr>
              <a:t>Ergonomie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436608" y="2578608"/>
            <a:ext cx="17830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B24"/>
                </a:solidFill>
              </a:rPr>
              <a:t>Monitor la nivelul ochilor, încheieturi neutre, suport lombar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040112" y="3657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🪑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417320" y="5166360"/>
            <a:ext cx="9235440" cy="566928"/>
          </a:xfrm>
          <a:prstGeom prst="roundRect">
            <a:avLst>
              <a:gd name="adj" fmla="val 19355"/>
            </a:avLst>
          </a:prstGeom>
          <a:solidFill>
            <a:srgbClr val="E7EF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532180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6B4F"/>
                </a:solidFill>
              </a:rPr>
              <a:t>Principiul-cheie: mișcări mici, repetate, sunt mai ușor de susținut decât schimbările drastice.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36C"/>
                </a:solidFill>
              </a:defRPr>
            </a:lvl1pPr>
          </a:lstStyle>
          <a:p>
            <a:pPr algn="l"/>
            <a:fld id="{F7021451-1387-4CA6-816F-3879F97B5CBC}" type="slidenum">
              <a:rPr lang="en-US" sz="1400" b="0"/>
              <a:t>5</a:t>
            </a:fld>
            <a:endParaRPr lang="en-US" sz="140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C5D8680-B160-1CC7-813B-26162033A36F}"/>
              </a:ext>
            </a:extLst>
          </p:cNvPr>
          <p:cNvSpPr/>
          <p:nvPr/>
        </p:nvSpPr>
        <p:spPr>
          <a:xfrm>
            <a:off x="640080" y="320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900" b="1" dirty="0">
                <a:solidFill>
                  <a:srgbClr val="1F2B24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4. Surse externe folosite în proiect</a:t>
            </a:r>
            <a:endParaRPr lang="en-US" sz="2900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DAA6F2-776C-2E0D-8B8F-B6B39BAF4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84" y="1891332"/>
            <a:ext cx="589171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Runtime Dependencies (</a:t>
            </a:r>
            <a:r>
              <a:rPr kumimoji="0" lang="ro-RO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în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package.json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 </a:t>
            </a:r>
            <a:r>
              <a:rPr lang="ro-RO" altLang="en-US" sz="1400" dirty="0"/>
              <a:t>și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</a:t>
            </a:r>
            <a:r>
              <a:rPr lang="en-US" altLang="en-US" sz="1400" dirty="0"/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UI framework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Express: HTTP server </a:t>
            </a:r>
            <a:r>
              <a:rPr kumimoji="0" lang="ro-RO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popup.j</a:t>
            </a:r>
            <a:r>
              <a:rPr kumimoji="0" lang="ro-RO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Cors</a:t>
            </a:r>
            <a:r>
              <a:rPr lang="en-US" sz="1400" dirty="0"/>
              <a:t>: </a:t>
            </a:r>
            <a:r>
              <a:rPr lang="en-US" sz="1400" dirty="0" err="1"/>
              <a:t>Permite</a:t>
            </a:r>
            <a:r>
              <a:rPr lang="en-US" sz="1400" dirty="0"/>
              <a:t> </a:t>
            </a:r>
            <a:r>
              <a:rPr lang="en-US" sz="1400" dirty="0" err="1"/>
              <a:t>cereri</a:t>
            </a:r>
            <a:r>
              <a:rPr lang="en-US" sz="1400" dirty="0"/>
              <a:t> cross-origin </a:t>
            </a:r>
            <a:r>
              <a:rPr lang="en-US" sz="1400" dirty="0" err="1"/>
              <a:t>pentru</a:t>
            </a:r>
            <a:r>
              <a:rPr lang="en-US" sz="1400" dirty="0"/>
              <a:t> backend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Ws</a:t>
            </a:r>
            <a:r>
              <a:rPr lang="en-US" sz="1400" dirty="0"/>
              <a:t>: Server WebSocket </a:t>
            </a:r>
            <a:r>
              <a:rPr lang="en-US" sz="1400" dirty="0" err="1"/>
              <a:t>în</a:t>
            </a:r>
            <a:r>
              <a:rPr lang="en-US" sz="1400" dirty="0"/>
              <a:t> backend.js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Sqlite3: </a:t>
            </a:r>
            <a:r>
              <a:rPr lang="en-US" sz="1400" dirty="0" err="1"/>
              <a:t>Bază</a:t>
            </a:r>
            <a:r>
              <a:rPr lang="en-US" sz="1400" dirty="0"/>
              <a:t> de date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citirile</a:t>
            </a:r>
            <a:r>
              <a:rPr lang="en-US" sz="1400" dirty="0"/>
              <a:t> </a:t>
            </a:r>
            <a:r>
              <a:rPr lang="en-US" sz="1400" dirty="0" err="1"/>
              <a:t>senzorilor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Sharp: </a:t>
            </a:r>
            <a:r>
              <a:rPr lang="en-US" sz="1400" dirty="0" err="1"/>
              <a:t>Detectarea</a:t>
            </a:r>
            <a:r>
              <a:rPr lang="en-US" sz="1400" dirty="0"/>
              <a:t> </a:t>
            </a:r>
            <a:r>
              <a:rPr lang="en-US" sz="1400" dirty="0" err="1"/>
              <a:t>luminozității</a:t>
            </a:r>
            <a:r>
              <a:rPr lang="en-US" sz="1400" dirty="0"/>
              <a:t> </a:t>
            </a:r>
            <a:r>
              <a:rPr lang="en-US" sz="1400" dirty="0" err="1"/>
              <a:t>camerei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Multer</a:t>
            </a:r>
            <a:r>
              <a:rPr lang="en-US" sz="1400" dirty="0"/>
              <a:t>: Upload de </a:t>
            </a:r>
            <a:r>
              <a:rPr lang="en-US" sz="1400" dirty="0" err="1"/>
              <a:t>fișiere</a:t>
            </a:r>
            <a:r>
              <a:rPr lang="en-US" sz="1400" dirty="0"/>
              <a:t> multipart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cadrele</a:t>
            </a:r>
            <a:r>
              <a:rPr lang="en-US" sz="1400" dirty="0"/>
              <a:t> </a:t>
            </a:r>
            <a:r>
              <a:rPr lang="en-US" sz="1400" dirty="0" err="1"/>
              <a:t>camerei</a:t>
            </a:r>
            <a:endParaRPr lang="ro-RO" sz="1400" dirty="0"/>
          </a:p>
          <a:p>
            <a:endParaRPr lang="en-US" sz="1400" dirty="0"/>
          </a:p>
          <a:p>
            <a:r>
              <a:rPr lang="en-US" sz="1400" b="1" dirty="0"/>
              <a:t>Dev Dependencies (</a:t>
            </a:r>
            <a:r>
              <a:rPr lang="en-US" sz="1400" b="1" dirty="0" err="1"/>
              <a:t>devDependencies</a:t>
            </a:r>
            <a:r>
              <a:rPr lang="en-US" sz="1400" b="1" dirty="0"/>
              <a:t>)</a:t>
            </a:r>
            <a:endParaRPr lang="ro-RO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Electron: Runtime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aplicația</a:t>
            </a:r>
            <a:r>
              <a:rPr lang="en-US" sz="1400" dirty="0"/>
              <a:t> desktop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electron-builder: </a:t>
            </a:r>
            <a:r>
              <a:rPr lang="en-US" sz="1400" dirty="0" err="1"/>
              <a:t>Creează</a:t>
            </a:r>
            <a:r>
              <a:rPr lang="en-US" sz="1400" dirty="0"/>
              <a:t> </a:t>
            </a:r>
            <a:r>
              <a:rPr lang="en-US" sz="1400" dirty="0" err="1"/>
              <a:t>instalatoare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aplicație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vite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@vitejs/plugin-react: Bundler </a:t>
            </a:r>
            <a:r>
              <a:rPr lang="en-US" sz="1400" dirty="0" err="1"/>
              <a:t>pentru</a:t>
            </a:r>
            <a:r>
              <a:rPr lang="en-US" sz="1400" dirty="0"/>
              <a:t> frontend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Concurrently: </a:t>
            </a:r>
            <a:r>
              <a:rPr lang="en-US" sz="1400" dirty="0" err="1"/>
              <a:t>Rulează</a:t>
            </a:r>
            <a:r>
              <a:rPr lang="en-US" sz="1400" dirty="0"/>
              <a:t> </a:t>
            </a:r>
            <a:r>
              <a:rPr lang="en-US" sz="1400" dirty="0" err="1"/>
              <a:t>mai</a:t>
            </a:r>
            <a:r>
              <a:rPr lang="en-US" sz="1400" dirty="0"/>
              <a:t> </a:t>
            </a:r>
            <a:r>
              <a:rPr lang="en-US" sz="1400" dirty="0" err="1"/>
              <a:t>multe</a:t>
            </a:r>
            <a:r>
              <a:rPr lang="en-US" sz="1400" dirty="0"/>
              <a:t> </a:t>
            </a:r>
            <a:r>
              <a:rPr lang="en-US" sz="1400" dirty="0" err="1"/>
              <a:t>scripturi</a:t>
            </a:r>
            <a:r>
              <a:rPr lang="en-US" sz="1400" dirty="0"/>
              <a:t> </a:t>
            </a:r>
            <a:r>
              <a:rPr lang="en-US" sz="1400" dirty="0" err="1"/>
              <a:t>npm</a:t>
            </a:r>
            <a:r>
              <a:rPr lang="en-US" sz="1400" dirty="0"/>
              <a:t> </a:t>
            </a:r>
            <a:r>
              <a:rPr lang="en-US" sz="1400" dirty="0" err="1"/>
              <a:t>simultan</a:t>
            </a:r>
            <a:endParaRPr lang="ro-R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wait-on: </a:t>
            </a:r>
            <a:r>
              <a:rPr lang="en-US" sz="1400" dirty="0" err="1"/>
              <a:t>Așteaptă</a:t>
            </a:r>
            <a:r>
              <a:rPr lang="en-US" sz="1400" dirty="0"/>
              <a:t> ca un server </a:t>
            </a:r>
            <a:r>
              <a:rPr lang="en-US" sz="1400" dirty="0" err="1"/>
              <a:t>să</a:t>
            </a:r>
            <a:r>
              <a:rPr lang="en-US" sz="1400" dirty="0"/>
              <a:t> fie </a:t>
            </a:r>
            <a:r>
              <a:rPr lang="en-US" sz="1400" dirty="0" err="1"/>
              <a:t>gata</a:t>
            </a:r>
            <a:r>
              <a:rPr lang="en-US" sz="1400" dirty="0"/>
              <a:t> </a:t>
            </a:r>
            <a:r>
              <a:rPr lang="en-US" sz="1400" dirty="0" err="1"/>
              <a:t>înainte</a:t>
            </a:r>
            <a:r>
              <a:rPr lang="en-US" sz="1400" dirty="0"/>
              <a:t> de </a:t>
            </a:r>
            <a:r>
              <a:rPr lang="en-US" sz="1400" dirty="0" err="1"/>
              <a:t>lansare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64C4E-07F4-0571-365E-E545AC20E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0" y="3980933"/>
            <a:ext cx="476395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(backend folder, </a:t>
            </a:r>
            <a:r>
              <a:rPr kumimoji="0" lang="ro-RO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rulat pe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Linux/Pi)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 err="1"/>
              <a:t>Mediapipe</a:t>
            </a:r>
            <a:r>
              <a:rPr lang="en-US" sz="1400" dirty="0"/>
              <a:t>: </a:t>
            </a:r>
            <a:r>
              <a:rPr lang="en-US" sz="1400" dirty="0" err="1"/>
              <a:t>Detectarea</a:t>
            </a:r>
            <a:r>
              <a:rPr lang="en-US" sz="1400" dirty="0"/>
              <a:t> </a:t>
            </a:r>
            <a:r>
              <a:rPr lang="en-US" sz="1400" dirty="0" err="1"/>
              <a:t>poziției</a:t>
            </a:r>
            <a:r>
              <a:rPr lang="en-US" sz="1400" dirty="0"/>
              <a:t> </a:t>
            </a:r>
            <a:r>
              <a:rPr lang="en-US" sz="1400" dirty="0" err="1"/>
              <a:t>corpului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analiza</a:t>
            </a:r>
            <a:r>
              <a:rPr lang="en-US" sz="1400" dirty="0"/>
              <a:t> </a:t>
            </a:r>
            <a:r>
              <a:rPr lang="en-US" sz="1400" dirty="0" err="1"/>
              <a:t>posturii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 err="1"/>
              <a:t>opencv</a:t>
            </a:r>
            <a:r>
              <a:rPr lang="en-US" sz="1400" dirty="0"/>
              <a:t>-python: </a:t>
            </a:r>
            <a:r>
              <a:rPr lang="en-US" sz="1400" dirty="0" err="1"/>
              <a:t>Procesarea</a:t>
            </a:r>
            <a:r>
              <a:rPr lang="en-US" sz="1400" dirty="0"/>
              <a:t> </a:t>
            </a:r>
            <a:r>
              <a:rPr lang="en-US" sz="1400" dirty="0" err="1"/>
              <a:t>cadrelor</a:t>
            </a:r>
            <a:r>
              <a:rPr lang="en-US" sz="1400" dirty="0"/>
              <a:t> video de la camera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 err="1"/>
              <a:t>Biblioteci</a:t>
            </a:r>
            <a:r>
              <a:rPr lang="en-US" sz="1400" dirty="0"/>
              <a:t> standard Python: math, time, </a:t>
            </a:r>
            <a:r>
              <a:rPr lang="en-US" sz="1400" dirty="0" err="1"/>
              <a:t>json</a:t>
            </a:r>
            <a:r>
              <a:rPr lang="en-US" sz="1400" dirty="0"/>
              <a:t>, </a:t>
            </a:r>
            <a:r>
              <a:rPr lang="en-US" sz="1400" dirty="0" err="1"/>
              <a:t>argparse</a:t>
            </a:r>
            <a:r>
              <a:rPr lang="en-US" sz="1400" dirty="0"/>
              <a:t>, </a:t>
            </a:r>
            <a:r>
              <a:rPr lang="en-US" sz="1400" dirty="0" err="1"/>
              <a:t>urllib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FBDAC-8990-3BBF-C3A4-141EECC44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160" y="1891333"/>
            <a:ext cx="559705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System-level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/>
              <a:t>Node.js: </a:t>
            </a:r>
            <a:r>
              <a:rPr lang="en-US" sz="1400" dirty="0" err="1"/>
              <a:t>Necesar</a:t>
            </a:r>
            <a:r>
              <a:rPr lang="en-US" sz="1400" dirty="0"/>
              <a:t> pe </a:t>
            </a:r>
            <a:r>
              <a:rPr lang="en-US" sz="1400" dirty="0" err="1"/>
              <a:t>orice</a:t>
            </a:r>
            <a:r>
              <a:rPr lang="en-US" sz="1400" dirty="0"/>
              <a:t> </a:t>
            </a:r>
            <a:r>
              <a:rPr lang="en-US" sz="1400" dirty="0" err="1"/>
              <a:t>mașină</a:t>
            </a:r>
            <a:r>
              <a:rPr lang="en-US" sz="1400" dirty="0"/>
              <a:t> care </a:t>
            </a:r>
            <a:r>
              <a:rPr lang="en-US" sz="1400" dirty="0" err="1"/>
              <a:t>rulează</a:t>
            </a:r>
            <a:r>
              <a:rPr lang="en-US" sz="1400" dirty="0"/>
              <a:t> backend-</a:t>
            </a:r>
            <a:r>
              <a:rPr lang="en-US" sz="1400" dirty="0" err="1"/>
              <a:t>ul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Electron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/>
              <a:t>SQLite3: </a:t>
            </a:r>
            <a:r>
              <a:rPr lang="en-US" sz="1400" dirty="0" err="1"/>
              <a:t>Integrat</a:t>
            </a:r>
            <a:r>
              <a:rPr lang="en-US" sz="1400" dirty="0"/>
              <a:t> </a:t>
            </a:r>
            <a:r>
              <a:rPr lang="en-US" sz="1400" dirty="0" err="1"/>
              <a:t>prin</a:t>
            </a:r>
            <a:r>
              <a:rPr lang="en-US" sz="1400" dirty="0"/>
              <a:t> </a:t>
            </a:r>
            <a:r>
              <a:rPr lang="en-US" sz="1400" dirty="0" err="1"/>
              <a:t>pachetul</a:t>
            </a:r>
            <a:r>
              <a:rPr lang="en-US" sz="1400" dirty="0"/>
              <a:t> </a:t>
            </a:r>
            <a:r>
              <a:rPr lang="en-US" sz="1400" dirty="0" err="1"/>
              <a:t>npm</a:t>
            </a:r>
            <a:r>
              <a:rPr lang="en-US" sz="1400" dirty="0"/>
              <a:t> sqlite3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/>
              <a:t>Un display/webcam pe Raspberry Pi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detecția</a:t>
            </a:r>
            <a:r>
              <a:rPr lang="en-US" sz="1400" dirty="0"/>
              <a:t> </a:t>
            </a:r>
            <a:r>
              <a:rPr lang="en-US" sz="1400" dirty="0" err="1"/>
              <a:t>posturii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/>
              <a:t>Raspberry Pi / server Linux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 err="1"/>
              <a:t>Senzor</a:t>
            </a:r>
            <a:r>
              <a:rPr lang="en-US" sz="1400" dirty="0"/>
              <a:t> de </a:t>
            </a:r>
            <a:r>
              <a:rPr lang="en-US" sz="1400" dirty="0" err="1"/>
              <a:t>presiune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 err="1"/>
              <a:t>Senzor</a:t>
            </a:r>
            <a:r>
              <a:rPr lang="en-US" sz="1400" dirty="0"/>
              <a:t> DHT22</a:t>
            </a:r>
            <a:endParaRPr lang="ro-RO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 err="1"/>
              <a:t>Cameră</a:t>
            </a:r>
            <a:r>
              <a:rPr lang="en-US" sz="1400" dirty="0"/>
              <a:t> / URL stream video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168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imple Steps That You Can Take To Get Your Confidence Back • Diary of a ...">
            <a:extLst>
              <a:ext uri="{FF2B5EF4-FFF2-40B4-BE49-F238E27FC236}">
                <a16:creationId xmlns:a16="http://schemas.microsoft.com/office/drawing/2014/main" id="{CD8C7ABD-7E56-6E84-9F52-5509F4F76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06879"/>
            <a:ext cx="13559421" cy="753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5619BA3-B4D7-A69D-B957-5DDBB88E0787}"/>
              </a:ext>
            </a:extLst>
          </p:cNvPr>
          <p:cNvSpPr/>
          <p:nvPr/>
        </p:nvSpPr>
        <p:spPr>
          <a:xfrm>
            <a:off x="640080" y="320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B24"/>
                </a:solidFill>
                <a:latin typeface="+mj-lt"/>
              </a:rPr>
              <a:t>5. Next steps</a:t>
            </a:r>
            <a:endParaRPr lang="en-US" sz="2900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86FD-48A2-6B90-D581-A03B4032C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70" y="2375250"/>
            <a:ext cx="772225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Implementare</a:t>
            </a:r>
            <a:r>
              <a:rPr lang="en-US" altLang="en-US" sz="2400" dirty="0" err="1"/>
              <a:t>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unei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aplica</a:t>
            </a:r>
            <a:r>
              <a:rPr lang="ro-RO" altLang="en-US" sz="2400" dirty="0"/>
              <a:t>ții desktop </a:t>
            </a:r>
            <a:r>
              <a:rPr lang="ro-RO" altLang="en-US" sz="2400" dirty="0" err="1"/>
              <a:t>downloadable</a:t>
            </a:r>
            <a:endParaRPr lang="ro-RO" altLang="en-US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Implementarea </a:t>
            </a:r>
            <a:r>
              <a:rPr lang="ro-RO" altLang="en-US" sz="2400" dirty="0"/>
              <a:t>unui scor de </a:t>
            </a:r>
            <a:r>
              <a:rPr lang="ro-RO" altLang="en-US" sz="2400" dirty="0" err="1"/>
              <a:t>wellness</a:t>
            </a:r>
            <a:r>
              <a:rPr lang="ro-RO" altLang="en-US" sz="2400" dirty="0"/>
              <a:t> la finalul zilei de muncă, pe baza rezumatelor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o-RO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Statistici</a:t>
            </a:r>
            <a:r>
              <a:rPr lang="ro-RO" altLang="en-US" sz="2400" dirty="0"/>
              <a:t> bazate pe aceste scoruri</a:t>
            </a:r>
          </a:p>
        </p:txBody>
      </p:sp>
    </p:spTree>
    <p:extLst>
      <p:ext uri="{BB962C8B-B14F-4D97-AF65-F5344CB8AC3E}">
        <p14:creationId xmlns:p14="http://schemas.microsoft.com/office/powerpoint/2010/main" val="249871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521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Îngrijorări de sănătate la locul de muncă</dc:title>
  <dc:subject>Îngrijorări de sănătate la locul de muncă</dc:subject>
  <dc:creator>OpenAI</dc:creator>
  <cp:lastModifiedBy>Anastasia Moraru</cp:lastModifiedBy>
  <cp:revision>4</cp:revision>
  <dcterms:created xsi:type="dcterms:W3CDTF">2026-04-25T00:38:11Z</dcterms:created>
  <dcterms:modified xsi:type="dcterms:W3CDTF">2026-04-25T02:16:33Z</dcterms:modified>
</cp:coreProperties>
</file>